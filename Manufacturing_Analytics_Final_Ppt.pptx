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D451274-11A1-4E63-9699-A980AB4638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B56F8942-B146-419E-BD9F-152BDC6339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738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1274-11A1-4E63-9699-A980AB4638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8942-B146-419E-BD9F-152BDC6339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D451274-11A1-4E63-9699-A980AB4638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56F8942-B146-419E-BD9F-152BDC6339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57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1274-11A1-4E63-9699-A980AB4638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8942-B146-419E-BD9F-152BDC6339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038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1274-11A1-4E63-9699-A980AB4638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8942-B146-419E-BD9F-152BDC6339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516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1274-11A1-4E63-9699-A980AB4638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8942-B146-419E-BD9F-152BDC6339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990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1274-11A1-4E63-9699-A980AB4638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8942-B146-419E-BD9F-152BDC6339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039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1274-11A1-4E63-9699-A980AB4638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8942-B146-419E-BD9F-152BDC6339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117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1274-11A1-4E63-9699-A980AB4638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8942-B146-419E-BD9F-152BDC6339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408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1274-11A1-4E63-9699-A980AB4638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8942-B146-419E-BD9F-152BDC6339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085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D451274-11A1-4E63-9699-A980AB4638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56F8942-B146-419E-BD9F-152BDC6339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072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D451274-11A1-4E63-9699-A980AB4638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56F8942-B146-419E-BD9F-152BDC63396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9644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D451274-11A1-4E63-9699-A980AB4638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56F8942-B146-419E-BD9F-152BDC6339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364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1274-11A1-4E63-9699-A980AB4638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8942-B146-419E-BD9F-152BDC6339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136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1274-11A1-4E63-9699-A980AB4638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8942-B146-419E-BD9F-152BDC6339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6276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1274-11A1-4E63-9699-A980AB4638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F8942-B146-419E-BD9F-152BDC6339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7923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D451274-11A1-4E63-9699-A980AB4638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56F8942-B146-419E-BD9F-152BDC6339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211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1274-11A1-4E63-9699-A980AB4638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F8942-B146-419E-BD9F-152BDC6339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192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606D0-3CD1-9015-9ABB-CAAC4B6B3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935" y="1150707"/>
            <a:ext cx="11835829" cy="99659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solidFill>
                  <a:schemeClr val="accent4">
                    <a:lumMod val="75000"/>
                  </a:schemeClr>
                </a:solidFill>
              </a:rPr>
              <a:t>MANUFACTURING ANALYTICS DASHBOARD</a:t>
            </a:r>
            <a:br>
              <a:rPr lang="en-US" sz="4400" b="1" dirty="0">
                <a:solidFill>
                  <a:schemeClr val="accent4">
                    <a:lumMod val="75000"/>
                  </a:schemeClr>
                </a:solidFill>
              </a:rPr>
            </a:br>
            <a:br>
              <a:rPr lang="en-US" sz="4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sz="4400" b="1" dirty="0">
                <a:solidFill>
                  <a:schemeClr val="accent4">
                    <a:lumMod val="75000"/>
                  </a:schemeClr>
                </a:solidFill>
              </a:rPr>
              <a:t>Group-3</a:t>
            </a:r>
            <a:endParaRPr lang="en-IN" sz="4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ADBC5E-A1A2-A358-BE0E-841CE1AD3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2458" y="2599362"/>
            <a:ext cx="3607942" cy="3184989"/>
          </a:xfrm>
        </p:spPr>
        <p:txBody>
          <a:bodyPr>
            <a:normAutofit/>
          </a:bodyPr>
          <a:lstStyle/>
          <a:p>
            <a:pPr marL="457200" indent="-457200" algn="just">
              <a:buAutoNum type="arabicPeriod"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</a:rPr>
              <a:t>S</a:t>
            </a:r>
            <a:r>
              <a:rPr lang="en-IN" b="1" i="0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ujata sidray karoli</a:t>
            </a:r>
          </a:p>
          <a:p>
            <a:pPr marL="457200" indent="-457200" algn="just">
              <a:buAutoNum type="arabicPeriod"/>
            </a:pPr>
            <a:r>
              <a:rPr lang="en-IN" b="1" i="0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Atharv Rajesh Kinjawadekar</a:t>
            </a:r>
          </a:p>
          <a:p>
            <a:pPr marL="457200" indent="-457200" algn="just">
              <a:buAutoNum type="arabicPeriod"/>
            </a:pPr>
            <a:r>
              <a:rPr lang="en-IN" b="1" i="0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Ashish Kumar</a:t>
            </a:r>
          </a:p>
          <a:p>
            <a:pPr marL="457200" indent="-457200" algn="just">
              <a:buAutoNum type="arabicPeriod"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</a:rPr>
              <a:t>D</a:t>
            </a:r>
            <a:r>
              <a:rPr lang="en-IN" b="1" i="0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hareppa suresh Maranur</a:t>
            </a:r>
          </a:p>
          <a:p>
            <a:pPr marL="457200" indent="-457200" algn="just">
              <a:buAutoNum type="arabicPeriod"/>
            </a:pPr>
            <a:r>
              <a:rPr lang="en-IN" b="1" i="0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Sangamesh RAKSHE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</a:endParaRPr>
          </a:p>
          <a:p>
            <a:pPr marL="457200" indent="-457200" algn="just">
              <a:buAutoNum type="arabicPeriod"/>
            </a:pPr>
            <a:r>
              <a:rPr lang="en-IN" b="1" i="0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Nitin kumar namdeo</a:t>
            </a:r>
          </a:p>
          <a:p>
            <a:pPr marL="457200" indent="-457200" algn="just">
              <a:buAutoNum type="arabicPeriod"/>
            </a:pPr>
            <a:r>
              <a:rPr lang="en-IN" b="1" i="0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Reshma Bollineni</a:t>
            </a:r>
            <a:endParaRPr lang="en-IN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831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62FA-BB27-3538-B976-E61AAB7EF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836" y="1140430"/>
            <a:ext cx="10725364" cy="1181529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Contents:</a:t>
            </a:r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A03DE-8262-A6F6-9A67-D0B71697D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661007"/>
            <a:ext cx="10820400" cy="355767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b="1" i="0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Overview </a:t>
            </a:r>
          </a:p>
          <a:p>
            <a:pPr marL="0" indent="0">
              <a:buNone/>
            </a:pPr>
            <a:r>
              <a:rPr lang="en-US" b="1" i="0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 of KPI’s</a:t>
            </a:r>
            <a:endParaRPr lang="en-US" b="1" i="0" dirty="0">
              <a:solidFill>
                <a:schemeClr val="accent3">
                  <a:lumMod val="7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Dashboard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 Insights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5. Recommendations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6. Conclusion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4039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87182-8F12-B58F-95DB-D0729695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340" y="1105785"/>
            <a:ext cx="10676860" cy="951615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Overview:</a:t>
            </a:r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DE314-025C-59A4-C62F-D0C4B6422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Operational Timeframe:</a:t>
            </a: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November 1, 2015, to November 27, 2015.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Total Volume Monitored: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Over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86.72 Million units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manufactured across core product lines.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Business Problem: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Identifying operational friction points, tracking high-volume rejections, and pointing out material wastage to stabilize production margins.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Primary Goal: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To bridge the gap between production quantities and quality benchmarks through targeted data insights.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008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DD563-EAA2-492A-C010-95B1767C5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116419"/>
            <a:ext cx="10820400" cy="940982"/>
          </a:xfrm>
        </p:spPr>
        <p:txBody>
          <a:bodyPr/>
          <a:lstStyle/>
          <a:p>
            <a:pPr algn="l"/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List of KPIs: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11C89-47CB-01DB-CA9D-6F08679DA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Total Manufactured Quantity: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The baseline metric capturing the total units pushed into production.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Total Processed Quantity: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The total volume of units that successfully completed their operational stage (e.g., cutting, folding).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Total Rejected Quantity: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The sum of all units flagged as defective or out-of-specification during quality checks.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Overall Rejection Rate (%):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The primary quality health scorecard metric.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Wastage Gap: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The volume difference between scheduled Work Orders (WO Qty) and actual completed output.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335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8A8C6-1B34-B8FE-3F4F-D6A462F15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333" y="764373"/>
            <a:ext cx="9493321" cy="735654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Excel Dashboard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86049D-8971-B461-B944-158753C107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662" y="1674689"/>
            <a:ext cx="11897474" cy="5024062"/>
          </a:xfrm>
        </p:spPr>
      </p:pic>
    </p:spTree>
    <p:extLst>
      <p:ext uri="{BB962C8B-B14F-4D97-AF65-F5344CB8AC3E}">
        <p14:creationId xmlns:p14="http://schemas.microsoft.com/office/powerpoint/2010/main" val="2834501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92C05-2230-7842-AE50-9BDED2745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28" y="764373"/>
            <a:ext cx="11239072" cy="129302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Tableau Dashboard</a:t>
            </a:r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467F8E-9EAB-F003-32D7-366939FFCA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5240" y="1726059"/>
            <a:ext cx="10744832" cy="4869950"/>
          </a:xfrm>
        </p:spPr>
      </p:pic>
    </p:spTree>
    <p:extLst>
      <p:ext uri="{BB962C8B-B14F-4D97-AF65-F5344CB8AC3E}">
        <p14:creationId xmlns:p14="http://schemas.microsoft.com/office/powerpoint/2010/main" val="2890579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99D59-CEBB-3766-4936-E1A18C562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9" y="764373"/>
            <a:ext cx="11187701" cy="129302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Power bi dashboard</a:t>
            </a:r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205F74-AF74-04CB-5F0E-1F41797690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1" y="1783209"/>
            <a:ext cx="10718514" cy="4997735"/>
          </a:xfrm>
        </p:spPr>
      </p:pic>
    </p:spTree>
    <p:extLst>
      <p:ext uri="{BB962C8B-B14F-4D97-AF65-F5344CB8AC3E}">
        <p14:creationId xmlns:p14="http://schemas.microsoft.com/office/powerpoint/2010/main" val="4010268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A0B64-15BB-8BC1-DEC2-BE345D156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181527"/>
            <a:ext cx="10820400" cy="875873"/>
          </a:xfrm>
        </p:spPr>
        <p:txBody>
          <a:bodyPr/>
          <a:lstStyle/>
          <a:p>
            <a:pPr algn="l"/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Insights: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50AD7-3F38-2FC9-990C-532333DBF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57400"/>
            <a:ext cx="10820400" cy="4507787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Departmental Disparity: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The quality problem is heavily isolated. The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Woven Labels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department accounts for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521,508 rejections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(a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0.90% rejection rate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on 58.18M units), whereas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Printed Labels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operates at an exceptionally clean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0.01% rejection rate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(only 3,221 rejections on 28.53M units).</a:t>
            </a: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Extreme Employee Outlier: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Employee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Shruti Singh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is tied to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520,867 rejections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out of the total 524,729 rejections in the entire factory dataset. This indicates an extreme process anomaly, mislogging, or machine-assignment issue unique to this operator profile.</a:t>
            </a:r>
          </a:p>
          <a:p>
            <a:pPr marL="0" indent="0">
              <a:buNone/>
            </a:pP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Machine Wear &amp; Tear: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Rejections are heavily driven by specific assets on the shop floor. Machines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C007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(33.6k rejections),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C039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(26.4k rejections), and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C022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(23.4k rejections) are the top three contributors to quality failures.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846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8E5B7-7AB0-2704-C437-D478E1C77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593" y="1017141"/>
            <a:ext cx="10509607" cy="873305"/>
          </a:xfrm>
        </p:spPr>
        <p:txBody>
          <a:bodyPr/>
          <a:lstStyle/>
          <a:p>
            <a:pPr algn="l"/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Recommendations: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428C2-55C4-0D53-9038-2BEB1BF8E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90446"/>
            <a:ext cx="10820400" cy="432824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Targeted Operator Intervention: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Conduct an immediate process audit on Employee </a:t>
            </a:r>
            <a:r>
              <a:rPr lang="en-US" i="1" dirty="0">
                <a:solidFill>
                  <a:schemeClr val="accent3">
                    <a:lumMod val="75000"/>
                  </a:schemeClr>
                </a:solidFill>
              </a:rPr>
              <a:t>Shruti Singh's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shift. Investigate if this massive rejection footprint is due to data entry errors, faulty equipment configuration, or a critical need for technical retraining.</a:t>
            </a: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Predictive Machine Maintenance: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Pull machines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C007, C039, and C022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offline for mechanical calibration and component inspection. Focus heavily on checking their cutting and weaving alignment modules.</a:t>
            </a: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Standardizing Woven Process Frameworks: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Take the quality control frameworks and machine maintenance schedules utilized in the </a:t>
            </a:r>
            <a:r>
              <a:rPr lang="en-US" i="1" dirty="0">
                <a:solidFill>
                  <a:schemeClr val="accent3">
                    <a:lumMod val="75000"/>
                  </a:schemeClr>
                </a:solidFill>
              </a:rPr>
              <a:t>Printed Labels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department and adapt them to optimize the </a:t>
            </a:r>
            <a:r>
              <a:rPr lang="en-US" i="1" dirty="0">
                <a:solidFill>
                  <a:schemeClr val="accent3">
                    <a:lumMod val="75000"/>
                  </a:schemeClr>
                </a:solidFill>
              </a:rPr>
              <a:t>Woven Labels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production floor.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759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1F1D1-33F6-BEAB-A7A0-F4E5B04E5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8" y="976045"/>
            <a:ext cx="10643171" cy="1081356"/>
          </a:xfrm>
        </p:spPr>
        <p:txBody>
          <a:bodyPr/>
          <a:lstStyle/>
          <a:p>
            <a:pPr algn="l"/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B60CD-6A67-40AD-E439-99761845B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Final Takeaway: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While the factory maintains an excellent overall rejection rate of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0.61%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, keeping it well below a standard 1% threshold, a deep dive proves that this is artificially low due to the flawless execution of the </a:t>
            </a:r>
            <a:r>
              <a:rPr lang="en-US" i="1" dirty="0">
                <a:solidFill>
                  <a:schemeClr val="accent3">
                    <a:lumMod val="75000"/>
                  </a:schemeClr>
                </a:solidFill>
              </a:rPr>
              <a:t>Printed Labels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line. The </a:t>
            </a:r>
            <a:r>
              <a:rPr lang="en-US" i="1" dirty="0">
                <a:solidFill>
                  <a:schemeClr val="accent3">
                    <a:lumMod val="75000"/>
                  </a:schemeClr>
                </a:solidFill>
              </a:rPr>
              <a:t>Woven Labels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line carries substantial risk.</a:t>
            </a: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Next Steps: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Implement the machine calibration plan immediately and refresh the dashboard data weekly to monitor if the targeted recommendations successfully drive the Woven Labels rejection rate down toward the 0.05% baseline.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614446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102</TotalTime>
  <Words>543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Century Gothic</vt:lpstr>
      <vt:lpstr>Vapor Trail</vt:lpstr>
      <vt:lpstr>MANUFACTURING ANALYTICS DASHBOARD  Group-3</vt:lpstr>
      <vt:lpstr>Contents:</vt:lpstr>
      <vt:lpstr>Overview:</vt:lpstr>
      <vt:lpstr>List of KPIs:</vt:lpstr>
      <vt:lpstr>Excel Dashboard</vt:lpstr>
      <vt:lpstr>Tableau Dashboard</vt:lpstr>
      <vt:lpstr>Power bi dashboard</vt:lpstr>
      <vt:lpstr>Insights:</vt:lpstr>
      <vt:lpstr>Recommendations: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MANUFACTURING ANALYTICS DASHBOARD  Group-3</dc:title>
  <dc:creator>Udaya</dc:creator>
  <cp:lastModifiedBy>Udaya</cp:lastModifiedBy>
  <cp:revision>12</cp:revision>
  <dcterms:created xsi:type="dcterms:W3CDTF">2026-07-03T10:37:10Z</dcterms:created>
  <dcterms:modified xsi:type="dcterms:W3CDTF">2026-07-03T12:19:16Z</dcterms:modified>
</cp:coreProperties>
</file>